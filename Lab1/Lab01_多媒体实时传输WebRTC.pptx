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705" r:id="rId3"/>
    <p:sldId id="775" r:id="rId5"/>
    <p:sldId id="778" r:id="rId6"/>
    <p:sldId id="829" r:id="rId7"/>
    <p:sldId id="707" r:id="rId8"/>
    <p:sldId id="712" r:id="rId9"/>
    <p:sldId id="713" r:id="rId10"/>
    <p:sldId id="816" r:id="rId11"/>
    <p:sldId id="817" r:id="rId12"/>
    <p:sldId id="818" r:id="rId13"/>
    <p:sldId id="819" r:id="rId14"/>
    <p:sldId id="820" r:id="rId15"/>
    <p:sldId id="821" r:id="rId16"/>
    <p:sldId id="822" r:id="rId17"/>
    <p:sldId id="825" r:id="rId18"/>
    <p:sldId id="827" r:id="rId19"/>
    <p:sldId id="826" r:id="rId20"/>
    <p:sldId id="828" r:id="rId21"/>
    <p:sldId id="344" r:id="rId22"/>
    <p:sldId id="346" r:id="rId23"/>
    <p:sldId id="831" r:id="rId24"/>
    <p:sldId id="832" r:id="rId25"/>
    <p:sldId id="833" r:id="rId26"/>
    <p:sldId id="835" r:id="rId27"/>
    <p:sldId id="834" r:id="rId28"/>
    <p:sldId id="849" r:id="rId29"/>
  </p:sldIdLst>
  <p:sldSz cx="9144000" cy="6858000" type="screen4x3"/>
  <p:notesSz cx="7302500" cy="9586595"/>
  <p:custDataLst>
    <p:tags r:id="rId3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5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5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5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5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5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5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5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5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506020202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7D00"/>
    <a:srgbClr val="D09E00"/>
    <a:srgbClr val="D5F1CF"/>
    <a:srgbClr val="F6F5BD"/>
    <a:srgbClr val="F1C7C7"/>
    <a:srgbClr val="E6E6E6"/>
    <a:srgbClr val="B3B3B3"/>
    <a:srgbClr val="990000"/>
    <a:srgbClr val="EBAFAF"/>
    <a:srgbClr val="ACE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3" autoAdjust="0"/>
    <p:restoredTop sz="86655" autoAdjust="0"/>
  </p:normalViewPr>
  <p:slideViewPr>
    <p:cSldViewPr snapToObjects="1" showGuides="1">
      <p:cViewPr varScale="1">
        <p:scale>
          <a:sx n="78" d="100"/>
          <a:sy n="78" d="100"/>
        </p:scale>
        <p:origin x="136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2024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06F400-B8FC-484F-BF90-4C9B67CB244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Tx/>
              <a:buChar char="•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FF3459-A03C-41D2-81C9-EF94E584A12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FF3459-A03C-41D2-81C9-EF94E584A12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3227FB-9364-4DFF-88F4-BB49BC4D971F}" type="slidenum">
              <a:rPr lang="en-US" altLang="zh-CN"/>
            </a:fld>
            <a:endParaRPr lang="en-US" altLang="zh-CN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脈衝編碼調變（英文：</a:t>
            </a:r>
            <a:r>
              <a:rPr lang="en-US" altLang="zh-CN" dirty="0"/>
              <a:t>Pulse-code modulation</a:t>
            </a:r>
            <a:r>
              <a:rPr lang="zh-CN" altLang="en-US" dirty="0"/>
              <a:t>，縮寫：</a:t>
            </a:r>
            <a:r>
              <a:rPr lang="en-US" altLang="zh-CN" dirty="0"/>
              <a:t>PCM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9222AE-0C49-4086-BA06-B3BFB6C8F46E}" type="slidenum">
              <a:rPr lang="en-US" altLang="zh-CN"/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E9B4F-3FE7-48D8-AD45-8C4880CFA4DD}" type="slidenum">
              <a:rPr lang="en-US" altLang="zh-CN"/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fld id="{7A59953A-87CC-4D93-8180-49944C96BFB0}" type="slidenum">
              <a:rPr lang="en-US" smtClean="0"/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 sz="3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090" y="457200"/>
            <a:ext cx="7591425" cy="762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-1"/>
            <a:ext cx="9144000" cy="311568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+mn-lt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429000" y="-26987"/>
            <a:ext cx="5778501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60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rPr>
              <a:t>Computer Networks, School of</a:t>
            </a:r>
            <a:r>
              <a:rPr lang="en-US" sz="1600" baseline="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rPr>
              <a:t> EECS, Peking University</a:t>
            </a:r>
            <a:endParaRPr lang="en-US" sz="1600" dirty="0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805446" y="6581001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S PGothic" panose="020B0600070205080204" pitchFamily="-96" charset="-128"/>
                <a:cs typeface="MS PGothic" panose="020B0600070205080204" pitchFamily="-96" charset="-128"/>
              </a:rPr>
            </a:fld>
            <a:endParaRPr lang="en-US" sz="1200" dirty="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chemeClr val="accent6">
              <a:lumMod val="50000"/>
            </a:schemeClr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5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5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5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5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5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5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5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5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1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github.com/Netflix/vmaf" TargetMode="External"/><Relationship Id="rId1" Type="http://schemas.openxmlformats.org/officeDocument/2006/relationships/hyperlink" Target="https://github.com/OpenNetLab/AlphaRTC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0" y="2135982"/>
            <a:ext cx="9144000" cy="12930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WebRTC</a:t>
            </a: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介绍及多媒体实时传输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1015034" y="3794022"/>
            <a:ext cx="7678738" cy="1752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1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 sz="20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ts val="1200"/>
              </a:spcBef>
            </a:pPr>
            <a:endParaRPr lang="en-US" sz="2800" kern="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228" y="4655082"/>
            <a:ext cx="2514600" cy="790673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4972050"/>
          </a:xfrm>
        </p:spPr>
        <p:txBody>
          <a:bodyPr/>
          <a:lstStyle/>
          <a:p>
            <a:r>
              <a:rPr lang="en-US" altLang="zh-CN" sz="2400" dirty="0"/>
              <a:t>(</a:t>
            </a:r>
            <a:r>
              <a:rPr lang="zh-CN" altLang="en-US" sz="2400" dirty="0"/>
              <a:t>视频</a:t>
            </a:r>
            <a:r>
              <a:rPr lang="en-US" altLang="zh-CN" sz="2400" dirty="0"/>
              <a:t>)</a:t>
            </a:r>
            <a:r>
              <a:rPr lang="zh-CN" altLang="en-US" sz="2400" dirty="0"/>
              <a:t>应用层与传输层之间的 </a:t>
            </a:r>
            <a:r>
              <a:rPr lang="en-US" altLang="zh-CN" sz="2400" dirty="0"/>
              <a:t>deviation </a:t>
            </a:r>
            <a:r>
              <a:rPr lang="zh-CN" altLang="en-US" sz="2400" dirty="0"/>
              <a:t>问题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WebRTC</a:t>
            </a:r>
            <a:r>
              <a:rPr lang="zh-CN" altLang="en-US" sz="2400" dirty="0"/>
              <a:t>背景介绍</a:t>
            </a:r>
            <a:endParaRPr lang="en-US" altLang="zh-CN" sz="2400" dirty="0"/>
          </a:p>
          <a:p>
            <a:endParaRPr lang="en-US" sz="2400" dirty="0"/>
          </a:p>
          <a:p>
            <a:r>
              <a:rPr lang="zh-CN" altLang="en-US" sz="2400" dirty="0"/>
              <a:t>相关协议：</a:t>
            </a:r>
            <a:r>
              <a:rPr lang="en-US" altLang="zh-CN" sz="2400" dirty="0"/>
              <a:t>RTP/RTCP</a:t>
            </a:r>
            <a:r>
              <a:rPr lang="zh-CN" altLang="en-US" sz="2400" dirty="0"/>
              <a:t>协议族</a:t>
            </a:r>
            <a:endParaRPr lang="en-US" altLang="zh-CN" sz="2400" dirty="0"/>
          </a:p>
          <a:p>
            <a:endParaRPr lang="en-US" sz="2400" dirty="0"/>
          </a:p>
          <a:p>
            <a:r>
              <a:rPr lang="en-US" altLang="zh-CN" sz="2400" dirty="0"/>
              <a:t>WebRTC</a:t>
            </a:r>
            <a:r>
              <a:rPr lang="zh-CN" altLang="en-US" sz="2400" dirty="0"/>
              <a:t>拥塞控制 </a:t>
            </a:r>
            <a:r>
              <a:rPr lang="en-US" altLang="zh-CN" sz="2400" dirty="0"/>
              <a:t>(Congestion Control) </a:t>
            </a:r>
            <a:r>
              <a:rPr lang="zh-CN" altLang="en-US" sz="2400" dirty="0"/>
              <a:t>算法</a:t>
            </a:r>
            <a:endParaRPr lang="en-US" altLang="zh-CN" sz="2400" dirty="0"/>
          </a:p>
          <a:p>
            <a:endParaRPr lang="en-US" sz="2400" dirty="0"/>
          </a:p>
          <a:p>
            <a:r>
              <a:rPr lang="en-US" altLang="zh-CN" sz="2400" dirty="0"/>
              <a:t>WebRTC</a:t>
            </a:r>
            <a:r>
              <a:rPr lang="zh-CN" altLang="en-US" sz="2400" dirty="0"/>
              <a:t>画质调整逻辑</a:t>
            </a:r>
            <a:endParaRPr lang="en-US" altLang="zh-CN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74090" y="457200"/>
            <a:ext cx="876991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j-cs"/>
              </a:defRPr>
            </a:lvl1pPr>
            <a:lvl2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2pPr>
            <a:lvl3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3pPr>
            <a:lvl4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4pPr>
            <a:lvl5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5pPr>
            <a:lvl6pPr marL="5765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6pPr>
            <a:lvl7pPr marL="10337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7pPr>
            <a:lvl8pPr marL="14909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8pPr>
            <a:lvl9pPr marL="19481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9pPr>
          </a:lstStyle>
          <a:p>
            <a:r>
              <a:rPr lang="en-US" altLang="zh-CN" dirty="0"/>
              <a:t>(</a:t>
            </a:r>
            <a:r>
              <a:rPr lang="zh-CN" altLang="en-US" dirty="0"/>
              <a:t>视频</a:t>
            </a:r>
            <a:r>
              <a:rPr lang="en-US" altLang="zh-CN" dirty="0"/>
              <a:t>)</a:t>
            </a:r>
            <a:r>
              <a:rPr lang="zh-CN" altLang="en-US" dirty="0"/>
              <a:t>应用层与传输层之间的 </a:t>
            </a:r>
            <a:r>
              <a:rPr lang="en-US" altLang="zh-CN" dirty="0"/>
              <a:t>deviation </a:t>
            </a:r>
            <a:r>
              <a:rPr lang="zh-CN" altLang="en-US" dirty="0"/>
              <a:t>问题</a:t>
            </a:r>
            <a:endParaRPr lang="en-US" altLang="zh-CN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05873" y="3136900"/>
            <a:ext cx="1892300" cy="353060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5"/>
          <p:cNvGrpSpPr/>
          <p:nvPr/>
        </p:nvGrpSpPr>
        <p:grpSpPr bwMode="auto">
          <a:xfrm>
            <a:off x="136024" y="3251200"/>
            <a:ext cx="8739190" cy="3530600"/>
            <a:chOff x="3076" y="888"/>
            <a:chExt cx="5505" cy="2224"/>
          </a:xfrm>
        </p:grpSpPr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3150" y="949"/>
              <a:ext cx="1205" cy="21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application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transport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link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physical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V="1">
              <a:off x="3076" y="1320"/>
              <a:ext cx="5465" cy="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3076" y="1768"/>
              <a:ext cx="550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6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113" y="3161104"/>
            <a:ext cx="518959" cy="51895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82876" y="4036516"/>
            <a:ext cx="28467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Congestion control ()</a:t>
            </a:r>
            <a:endParaRPr lang="en-US" altLang="zh-CN" dirty="0">
              <a:latin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21044" y="3225801"/>
            <a:ext cx="789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apps</a:t>
            </a:r>
            <a:endParaRPr lang="en-US" altLang="zh-CN" dirty="0">
              <a:latin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146300" y="4825417"/>
            <a:ext cx="27772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delay, loss, jitter, </a:t>
            </a:r>
            <a:r>
              <a:rPr lang="en-US" altLang="zh-CN" dirty="0" err="1">
                <a:latin typeface="+mn-lt"/>
              </a:rPr>
              <a:t>etc</a:t>
            </a:r>
            <a:endParaRPr lang="en-US" altLang="zh-CN" dirty="0">
              <a:latin typeface="+mn-lt"/>
            </a:endParaRPr>
          </a:p>
        </p:txBody>
      </p:sp>
      <p:sp>
        <p:nvSpPr>
          <p:cNvPr id="18" name="箭头: 右 17"/>
          <p:cNvSpPr/>
          <p:nvPr/>
        </p:nvSpPr>
        <p:spPr bwMode="auto">
          <a:xfrm rot="16200000">
            <a:off x="3207741" y="4470873"/>
            <a:ext cx="514922" cy="300681"/>
          </a:xfrm>
          <a:prstGeom prst="rightArrow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/>
          <p:cNvSpPr/>
          <p:nvPr/>
        </p:nvSpPr>
        <p:spPr bwMode="auto">
          <a:xfrm rot="16200000">
            <a:off x="3209801" y="3759673"/>
            <a:ext cx="514922" cy="300681"/>
          </a:xfrm>
          <a:prstGeom prst="rightArrow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457777" y="4029753"/>
            <a:ext cx="36227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Video congestion control ()</a:t>
            </a:r>
            <a:endParaRPr lang="en-US" altLang="zh-CN" dirty="0">
              <a:latin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339658" y="3238501"/>
            <a:ext cx="1443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video app</a:t>
            </a:r>
            <a:endParaRPr lang="en-US" altLang="zh-CN" dirty="0">
              <a:latin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747375" y="4825417"/>
            <a:ext cx="27772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delay, loss, jitter, </a:t>
            </a:r>
            <a:r>
              <a:rPr lang="en-US" altLang="zh-CN" dirty="0" err="1">
                <a:latin typeface="+mn-lt"/>
              </a:rPr>
              <a:t>etc</a:t>
            </a:r>
            <a:endParaRPr lang="en-US" altLang="zh-CN" dirty="0">
              <a:latin typeface="+mn-lt"/>
            </a:endParaRPr>
          </a:p>
        </p:txBody>
      </p:sp>
      <p:sp>
        <p:nvSpPr>
          <p:cNvPr id="26" name="箭头: 右 25"/>
          <p:cNvSpPr/>
          <p:nvPr/>
        </p:nvSpPr>
        <p:spPr bwMode="auto">
          <a:xfrm rot="16200000">
            <a:off x="6808816" y="4470873"/>
            <a:ext cx="514922" cy="300681"/>
          </a:xfrm>
          <a:prstGeom prst="rightArrow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/>
          <p:cNvSpPr/>
          <p:nvPr/>
        </p:nvSpPr>
        <p:spPr bwMode="auto">
          <a:xfrm rot="16200000">
            <a:off x="6810876" y="3759673"/>
            <a:ext cx="514922" cy="300681"/>
          </a:xfrm>
          <a:prstGeom prst="rightArrow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3593128" y="3528268"/>
            <a:ext cx="1046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Tx rate</a:t>
            </a:r>
            <a:endParaRPr lang="en-US" altLang="zh-CN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416741" y="3519899"/>
            <a:ext cx="1046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Tx rate</a:t>
            </a:r>
            <a:endParaRPr lang="en-US" altLang="zh-CN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1" name="对话气泡: 椭圆形 30"/>
          <p:cNvSpPr/>
          <p:nvPr/>
        </p:nvSpPr>
        <p:spPr bwMode="auto">
          <a:xfrm>
            <a:off x="6695874" y="1933687"/>
            <a:ext cx="1828800" cy="1211648"/>
          </a:xfrm>
          <a:prstGeom prst="wedgeEllipseCallout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zh-CN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Codec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:</a:t>
            </a:r>
            <a:endParaRPr lang="en-US" altLang="zh-CN" sz="2000" dirty="0">
              <a:solidFill>
                <a:srgbClr val="FF0000"/>
              </a:solidFill>
              <a:latin typeface="+mn-lt"/>
            </a:endParaRPr>
          </a:p>
          <a:p>
            <a:pPr algn="ctr"/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F-rate, res, </a:t>
            </a:r>
            <a:r>
              <a:rPr lang="en-US" altLang="zh-CN" sz="2000" dirty="0" err="1">
                <a:solidFill>
                  <a:srgbClr val="FF0000"/>
                </a:solidFill>
                <a:latin typeface="+mn-lt"/>
              </a:rPr>
              <a:t>freq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0" y="1268347"/>
            <a:ext cx="66293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算法只负责给应用层输出一个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Tx rate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没人负责如何把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实现为具体的编码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codec(H.264/5, VP8/9, F-rate, res,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freq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应用层与传输层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38150" y="1590675"/>
            <a:ext cx="7791450" cy="5114925"/>
          </a:xfrm>
        </p:spPr>
        <p:txBody>
          <a:bodyPr/>
          <a:lstStyle/>
          <a:p>
            <a:r>
              <a:rPr lang="en-US" altLang="zh-CN" sz="2400" dirty="0"/>
              <a:t>2009</a:t>
            </a:r>
            <a:r>
              <a:rPr lang="zh-CN" altLang="en-US" sz="2400" dirty="0"/>
              <a:t>年开始，</a:t>
            </a:r>
            <a:r>
              <a:rPr lang="en-US" sz="2400" dirty="0"/>
              <a:t>Google Chrome</a:t>
            </a:r>
            <a:r>
              <a:rPr lang="zh-CN" altLang="en-US" sz="2400" dirty="0"/>
              <a:t>团队想要提供</a:t>
            </a:r>
            <a:r>
              <a:rPr lang="en-US" sz="2400" dirty="0"/>
              <a:t>Web</a:t>
            </a:r>
            <a:r>
              <a:rPr lang="zh-CN" altLang="en-US" sz="2400" dirty="0"/>
              <a:t>上的</a:t>
            </a:r>
            <a:r>
              <a:rPr lang="en-US" sz="2400" dirty="0"/>
              <a:t>RTC</a:t>
            </a:r>
            <a:r>
              <a:rPr lang="zh-CN" altLang="en-US" sz="2400" dirty="0"/>
              <a:t>服务，而当时只有</a:t>
            </a:r>
            <a:r>
              <a:rPr lang="en-US" sz="2400" dirty="0"/>
              <a:t>Adobe Flash</a:t>
            </a:r>
            <a:r>
              <a:rPr lang="zh-CN" altLang="en-US" sz="2400" dirty="0"/>
              <a:t>和 </a:t>
            </a:r>
            <a:r>
              <a:rPr lang="en-US" sz="2400" dirty="0"/>
              <a:t>Netscape NPAPI</a:t>
            </a:r>
            <a:r>
              <a:rPr lang="zh-CN" altLang="en-US" sz="2400" dirty="0"/>
              <a:t>提供</a:t>
            </a:r>
            <a:r>
              <a:rPr lang="en-US" sz="2400" dirty="0"/>
              <a:t>RTC</a:t>
            </a:r>
            <a:r>
              <a:rPr lang="zh-CN" altLang="en-US" sz="2400" dirty="0"/>
              <a:t>服务，且难以为用户使用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当时世界顶级的付费互联网音视频方案为</a:t>
            </a:r>
            <a:r>
              <a:rPr lang="en-US" sz="2400" dirty="0"/>
              <a:t>GIPS，</a:t>
            </a:r>
            <a:r>
              <a:rPr lang="zh-CN" altLang="en-US" sz="2400" dirty="0"/>
              <a:t>提供了</a:t>
            </a:r>
            <a:r>
              <a:rPr lang="en-US" sz="2400" dirty="0"/>
              <a:t>RTC</a:t>
            </a:r>
            <a:r>
              <a:rPr lang="zh-CN" altLang="en-US" sz="2400" dirty="0"/>
              <a:t>所需要的低层级组件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en-US" altLang="zh-CN" sz="2400" dirty="0"/>
              <a:t>2011</a:t>
            </a:r>
            <a:r>
              <a:rPr lang="zh-CN" altLang="en-US" sz="2400" dirty="0"/>
              <a:t>年</a:t>
            </a:r>
            <a:r>
              <a:rPr lang="en-US" sz="2400" dirty="0"/>
              <a:t>Google</a:t>
            </a:r>
            <a:r>
              <a:rPr lang="zh-CN" altLang="en-US" sz="2400" dirty="0"/>
              <a:t>收购</a:t>
            </a:r>
            <a:r>
              <a:rPr lang="en-US" sz="2400" dirty="0"/>
              <a:t>GIPS，</a:t>
            </a:r>
            <a:r>
              <a:rPr lang="zh-CN" altLang="en-US" sz="2400" dirty="0"/>
              <a:t>融合了</a:t>
            </a:r>
            <a:r>
              <a:rPr lang="en-US" sz="2400" dirty="0"/>
              <a:t>GIPS</a:t>
            </a:r>
            <a:r>
              <a:rPr lang="zh-CN" altLang="en-US" sz="2400" dirty="0"/>
              <a:t>的音视频引擎开发出了</a:t>
            </a:r>
            <a:r>
              <a:rPr lang="en-US" sz="2400" dirty="0"/>
              <a:t>WebRTC，</a:t>
            </a:r>
            <a:r>
              <a:rPr lang="zh-CN" altLang="en-US" sz="2400" dirty="0"/>
              <a:t>并开源了全部关键组件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如今被大多数的现代音视频服务所使用</a:t>
            </a:r>
            <a:endParaRPr lang="en-US" sz="24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74090" y="457200"/>
            <a:ext cx="7591425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j-cs"/>
              </a:defRPr>
            </a:lvl1pPr>
            <a:lvl2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2pPr>
            <a:lvl3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3pPr>
            <a:lvl4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4pPr>
            <a:lvl5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5pPr>
            <a:lvl6pPr marL="5765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6pPr>
            <a:lvl7pPr marL="10337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7pPr>
            <a:lvl8pPr marL="14909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8pPr>
            <a:lvl9pPr marL="19481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9pPr>
          </a:lstStyle>
          <a:p>
            <a:r>
              <a:rPr lang="en-US" altLang="zh-CN" dirty="0"/>
              <a:t>WebRTC</a:t>
            </a:r>
            <a:r>
              <a:rPr lang="zh-CN" altLang="en-US" dirty="0"/>
              <a:t>背景介绍</a:t>
            </a:r>
            <a:endParaRPr lang="en-US" kern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0" y="457200"/>
            <a:ext cx="2514600" cy="7906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>
                <a:ea typeface="宋体" panose="02010600030101010101" pitchFamily="2" charset="-122"/>
              </a:rPr>
              <a:t>Real-Time Protocol (RTP)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RTP specifies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packet structure</a:t>
            </a:r>
            <a:r>
              <a:rPr lang="en-US" altLang="zh-CN" sz="2400" dirty="0">
                <a:ea typeface="宋体" panose="02010600030101010101" pitchFamily="2" charset="-122"/>
              </a:rPr>
              <a:t> for packets carrying audio, video data</a:t>
            </a:r>
            <a:endParaRPr lang="en-US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>
                <a:ea typeface="宋体" panose="02010600030101010101" pitchFamily="2" charset="-122"/>
              </a:rPr>
              <a:t>RFC 3550</a:t>
            </a:r>
            <a:endParaRPr lang="en-US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>
                <a:ea typeface="宋体" panose="02010600030101010101" pitchFamily="2" charset="-122"/>
              </a:rPr>
              <a:t>RTP packet provides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payload</a:t>
            </a:r>
            <a:r>
              <a:rPr lang="en-US" altLang="zh-CN" dirty="0">
                <a:ea typeface="宋体" panose="02010600030101010101" pitchFamily="2" charset="-122"/>
              </a:rPr>
              <a:t> type identification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packet sequence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numbering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time</a:t>
            </a:r>
            <a:r>
              <a:rPr lang="en-US" altLang="zh-CN" dirty="0">
                <a:ea typeface="宋体" panose="02010600030101010101" pitchFamily="2" charset="-122"/>
              </a:rPr>
              <a:t> stamping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34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339850"/>
            <a:ext cx="4032250" cy="4908550"/>
          </a:xfrm>
        </p:spPr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RTP runs in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end</a:t>
            </a:r>
            <a:r>
              <a:rPr lang="en-US" altLang="zh-CN" sz="2400" dirty="0">
                <a:ea typeface="宋体" panose="02010600030101010101" pitchFamily="2" charset="-122"/>
              </a:rPr>
              <a:t> systems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>
                <a:ea typeface="宋体" panose="02010600030101010101" pitchFamily="2" charset="-122"/>
              </a:rPr>
              <a:t>RTP packets encapsulated in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UDP</a:t>
            </a:r>
            <a:r>
              <a:rPr lang="en-US" altLang="zh-CN" sz="2400" dirty="0">
                <a:ea typeface="宋体" panose="02010600030101010101" pitchFamily="2" charset="-122"/>
              </a:rPr>
              <a:t> segments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>
                <a:ea typeface="宋体" panose="02010600030101010101" pitchFamily="2" charset="-122"/>
              </a:rPr>
              <a:t>interoperability: if two Internet phone applications run RTP, then they may be able to work together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ea typeface="宋体" panose="02010600030101010101" pitchFamily="2" charset="-122"/>
              </a:rPr>
              <a:t>Real-Time Control Protocol (RTCP)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39850"/>
            <a:ext cx="4060825" cy="5186363"/>
          </a:xfrm>
        </p:spPr>
        <p:txBody>
          <a:bodyPr/>
          <a:lstStyle/>
          <a:p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目的：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RTCP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加强一下</a:t>
            </a:r>
            <a:r>
              <a:rPr lang="en-US" altLang="zh-CN" sz="2000" dirty="0" err="1">
                <a:solidFill>
                  <a:srgbClr val="FF0000"/>
                </a:solidFill>
                <a:latin typeface="+mn-lt"/>
              </a:rPr>
              <a:t>QoS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，如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jitter </a:t>
            </a:r>
            <a:endParaRPr lang="en-US" altLang="zh-CN" sz="2000" dirty="0">
              <a:solidFill>
                <a:srgbClr val="FF0000"/>
              </a:solidFill>
              <a:latin typeface="+mn-lt"/>
            </a:endParaRPr>
          </a:p>
          <a:p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works in conjunction with RTP. </a:t>
            </a:r>
            <a:endParaRPr lang="en-US" altLang="zh-CN" sz="2000" dirty="0">
              <a:latin typeface="+mn-lt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each participant in RTP session periodically transmits RTCP control packets to all other participants. </a:t>
            </a:r>
            <a:endParaRPr lang="en-US" altLang="zh-CN" sz="2000" dirty="0">
              <a:latin typeface="+mn-lt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each RTCP packet contains sender and/or receiver reports</a:t>
            </a:r>
            <a:endParaRPr lang="en-US" altLang="zh-CN" sz="2000" dirty="0">
              <a:latin typeface="+mn-lt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</a:rPr>
              <a:t>report statistics useful to  application: # packets sent, # packets lost,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  <a:ea typeface="宋体" panose="02010600030101010101" pitchFamily="2" charset="-122"/>
              </a:rPr>
              <a:t>interarrival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</a:rPr>
              <a:t> jitter</a:t>
            </a:r>
            <a:endParaRPr lang="en-US" altLang="zh-CN" sz="160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946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1289050"/>
            <a:ext cx="3810000" cy="4908550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lt"/>
              </a:rPr>
              <a:t>类似于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ICMP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</a:rPr>
              <a:t>对于网络层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IP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</a:rPr>
              <a:t>协议的贡献（查看路由器通不通、路由是否可用）</a:t>
            </a:r>
            <a:endParaRPr lang="en-US" altLang="zh-CN" sz="2400" b="1" dirty="0">
              <a:solidFill>
                <a:srgbClr val="FF0000"/>
              </a:solidFill>
              <a:latin typeface="+mn-lt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RTCP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</a:rPr>
              <a:t>对于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RTP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</a:rPr>
              <a:t>的贡献就是承载控制数据，使得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sender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</a:rPr>
              <a:t>端节点可以对性能做优化</a:t>
            </a:r>
            <a:endParaRPr lang="zh-CN" altLang="en-US" sz="2400" b="1" dirty="0">
              <a:solidFill>
                <a:srgbClr val="FF0000"/>
              </a:solidFill>
              <a:latin typeface="+mn-lt"/>
            </a:endParaRPr>
          </a:p>
          <a:p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feedback can be used to control performance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  <a:p>
            <a:pPr lvl="1"/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sender may modify its transmissions based on  feedback</a:t>
            </a:r>
            <a:endParaRPr lang="en-US" altLang="zh-CN" sz="2000" dirty="0"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325438" y="267862"/>
            <a:ext cx="7772400" cy="1143000"/>
          </a:xfrm>
        </p:spPr>
        <p:txBody>
          <a:bodyPr/>
          <a:lstStyle/>
          <a:p>
            <a:pPr algn="l"/>
            <a:r>
              <a:rPr lang="en-US" altLang="zh-CN" dirty="0">
                <a:ea typeface="宋体" panose="02010600030101010101" pitchFamily="2" charset="-122"/>
              </a:rPr>
              <a:t>RTCP - Continued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0485" name="Picture 3" descr="Rtp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48000" y="1457325"/>
            <a:ext cx="278130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325438" y="4397276"/>
            <a:ext cx="8570912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dirty="0">
                <a:latin typeface="+mn-lt"/>
                <a:ea typeface="宋体" panose="02010600030101010101" pitchFamily="2" charset="-122"/>
              </a:rPr>
              <a:t> each RTP session: typically a single multicast address; all RTP /RTCP packets belonging to session use multicast address.</a:t>
            </a:r>
            <a:endParaRPr lang="en-US" altLang="zh-CN" dirty="0">
              <a:latin typeface="+mn-lt"/>
              <a:ea typeface="宋体" panose="02010600030101010101" pitchFamily="2" charset="-122"/>
            </a:endParaRPr>
          </a:p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dirty="0">
                <a:latin typeface="+mn-lt"/>
                <a:ea typeface="宋体" panose="02010600030101010101" pitchFamily="2" charset="-122"/>
              </a:rPr>
              <a:t> RTP, RTCP packets distinguished from each other via distinct port numbers. </a:t>
            </a:r>
            <a:endParaRPr lang="en-US" altLang="zh-CN" dirty="0">
              <a:latin typeface="+mn-lt"/>
              <a:ea typeface="宋体" panose="02010600030101010101" pitchFamily="2" charset="-122"/>
            </a:endParaRPr>
          </a:p>
          <a:p>
            <a:pPr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b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</a:rPr>
              <a:t> to limit traffic, each participant reduces RTCP traffic as number of conference participants increases 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38600" y="435114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RTP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里面是视频流</a:t>
            </a:r>
            <a:endParaRPr lang="en-US" altLang="zh-CN" sz="20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RTCP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是各方对网络条件的反馈意见</a:t>
            </a:r>
            <a:endParaRPr lang="zh-CN" altLang="zh-CN" sz="20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WebRTC</a:t>
            </a:r>
            <a:r>
              <a:rPr lang="zh-CN" altLang="en-US" dirty="0"/>
              <a:t>中的</a:t>
            </a:r>
            <a:r>
              <a:rPr lang="en-US" altLang="zh-CN" dirty="0"/>
              <a:t>RTP/RTCP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447800"/>
            <a:ext cx="7743825" cy="4972050"/>
          </a:xfrm>
        </p:spPr>
        <p:txBody>
          <a:bodyPr/>
          <a:lstStyle/>
          <a:p>
            <a:r>
              <a:rPr lang="en-US" altLang="zh-CN" sz="2400" dirty="0"/>
              <a:t>RTP</a:t>
            </a:r>
            <a:r>
              <a:rPr lang="zh-CN" altLang="en-US" sz="2400" dirty="0"/>
              <a:t>发送视频流，</a:t>
            </a:r>
            <a:r>
              <a:rPr lang="en-US" altLang="zh-CN" sz="2400" dirty="0"/>
              <a:t>RTCP</a:t>
            </a:r>
            <a:r>
              <a:rPr lang="zh-CN" altLang="en-US" sz="2400" dirty="0"/>
              <a:t>承载抖动，丢包等反馈信息</a:t>
            </a: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33962"/>
          <a:stretch>
            <a:fillRect/>
          </a:stretch>
        </p:blipFill>
        <p:spPr>
          <a:xfrm>
            <a:off x="1869688" y="2057400"/>
            <a:ext cx="5404624" cy="21860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688" y="4495800"/>
            <a:ext cx="5404624" cy="19530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WebRTC</a:t>
            </a:r>
            <a:r>
              <a:rPr lang="zh-CN" altLang="en-US" dirty="0"/>
              <a:t>拥塞控制算法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933450"/>
          </a:xfrm>
        </p:spPr>
        <p:txBody>
          <a:bodyPr/>
          <a:lstStyle/>
          <a:p>
            <a:r>
              <a:rPr lang="zh-CN" altLang="en-US" sz="2400" dirty="0"/>
              <a:t>位于发送端的基于丢包率的码率控制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位于接收端的基于延迟的码率控制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05200"/>
            <a:ext cx="787447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374090" y="457200"/>
            <a:ext cx="8541310" cy="762000"/>
          </a:xfrm>
        </p:spPr>
        <p:txBody>
          <a:bodyPr/>
          <a:lstStyle/>
          <a:p>
            <a:r>
              <a:rPr lang="en-US" altLang="zh-CN" dirty="0"/>
              <a:t>Loss based controller </a:t>
            </a:r>
            <a:r>
              <a:rPr lang="zh-CN" altLang="en-US" dirty="0"/>
              <a:t>基于丢包率的码率控制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8201025" cy="933450"/>
          </a:xfrm>
        </p:spPr>
        <p:txBody>
          <a:bodyPr/>
          <a:lstStyle/>
          <a:p>
            <a:r>
              <a:rPr lang="zh-CN" altLang="en-US" sz="2400" dirty="0"/>
              <a:t>基本思想：丢包率反映网络拥塞状况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如果丢包率很小，说明网络良好，适当上调码率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如果丢包率变大，说明网络变差，应当减少码率</a:t>
            </a: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4648200"/>
            <a:ext cx="5953125" cy="1304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374090" y="457200"/>
            <a:ext cx="8541310" cy="762000"/>
          </a:xfrm>
        </p:spPr>
        <p:txBody>
          <a:bodyPr/>
          <a:lstStyle/>
          <a:p>
            <a:r>
              <a:rPr lang="en-US" altLang="zh-CN" dirty="0"/>
              <a:t>Delay based controller </a:t>
            </a:r>
            <a:r>
              <a:rPr lang="zh-CN" altLang="en-US" dirty="0"/>
              <a:t>基于延迟的码率控制 </a:t>
            </a:r>
            <a:r>
              <a:rPr lang="en-US" altLang="zh-CN" dirty="0"/>
              <a:t>(1/2)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8201025" cy="933450"/>
          </a:xfrm>
        </p:spPr>
        <p:txBody>
          <a:bodyPr/>
          <a:lstStyle/>
          <a:p>
            <a:r>
              <a:rPr lang="zh-CN" altLang="en-US" sz="2400" dirty="0"/>
              <a:t>基本思想：通过延迟判断网络情况，发送信号并调整状态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算法输出得到</a:t>
            </a:r>
            <a:r>
              <a:rPr lang="en-US" altLang="zh-CN" sz="2400" dirty="0"/>
              <a:t>Overuse</a:t>
            </a:r>
            <a:r>
              <a:rPr lang="zh-CN" altLang="en-US" sz="2400" dirty="0"/>
              <a:t>、</a:t>
            </a:r>
            <a:r>
              <a:rPr lang="en-US" altLang="zh-CN" sz="2400" dirty="0"/>
              <a:t>Underuse</a:t>
            </a:r>
            <a:r>
              <a:rPr lang="zh-CN" altLang="en-US" sz="2400" dirty="0"/>
              <a:t>、</a:t>
            </a:r>
            <a:r>
              <a:rPr lang="en-US" altLang="zh-CN" sz="2400" dirty="0"/>
              <a:t>Normal</a:t>
            </a:r>
            <a:r>
              <a:rPr lang="zh-CN" altLang="en-US" sz="2400" dirty="0"/>
              <a:t>三个信号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将信号输入有限状态机得到码率变化趋势</a:t>
            </a: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062" y="4235140"/>
            <a:ext cx="6619875" cy="2152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8201025" cy="933450"/>
          </a:xfrm>
        </p:spPr>
        <p:txBody>
          <a:bodyPr/>
          <a:lstStyle/>
          <a:p>
            <a:r>
              <a:rPr lang="zh-CN" altLang="en-US" sz="2400" dirty="0"/>
              <a:t>对应有限状态机的调整逻辑代码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587" y="2369987"/>
            <a:ext cx="5076825" cy="4030813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74090" y="457200"/>
            <a:ext cx="8846110" cy="762000"/>
          </a:xfrm>
        </p:spPr>
        <p:txBody>
          <a:bodyPr/>
          <a:lstStyle/>
          <a:p>
            <a:r>
              <a:rPr lang="en-US" altLang="zh-CN" dirty="0"/>
              <a:t>Delay based controller </a:t>
            </a:r>
            <a:r>
              <a:rPr lang="zh-CN" altLang="en-US" dirty="0"/>
              <a:t>基于延迟的码率控制 </a:t>
            </a:r>
            <a:r>
              <a:rPr lang="en-US" altLang="zh-CN" dirty="0"/>
              <a:t>(2/2)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WebRTC</a:t>
            </a:r>
            <a:r>
              <a:rPr lang="zh-CN" altLang="en-US" dirty="0"/>
              <a:t>画质调整逻辑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255014"/>
            <a:ext cx="7743825" cy="4972050"/>
          </a:xfrm>
        </p:spPr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</a:rPr>
              <a:t>WebRTC </a:t>
            </a:r>
            <a:r>
              <a:rPr lang="zh-CN" altLang="en-US" sz="2400" dirty="0">
                <a:latin typeface="微软雅黑" panose="020B0503020204020204" pitchFamily="34" charset="-122"/>
              </a:rPr>
              <a:t>负责如何把</a:t>
            </a:r>
            <a:r>
              <a:rPr lang="en-US" altLang="zh-CN" sz="2400" dirty="0">
                <a:latin typeface="微软雅黑" panose="020B0503020204020204" pitchFamily="34" charset="-122"/>
              </a:rPr>
              <a:t>rate</a:t>
            </a:r>
            <a:r>
              <a:rPr lang="zh-CN" altLang="en-US" sz="2400" dirty="0">
                <a:latin typeface="微软雅黑" panose="020B0503020204020204" pitchFamily="34" charset="-122"/>
              </a:rPr>
              <a:t>实现为具体的编码</a:t>
            </a:r>
            <a:r>
              <a:rPr lang="en-US" altLang="zh-CN" sz="2400" dirty="0">
                <a:latin typeface="微软雅黑" panose="020B0503020204020204" pitchFamily="34" charset="-122"/>
              </a:rPr>
              <a:t>codec </a:t>
            </a:r>
            <a:endParaRPr lang="en-US" altLang="zh-CN" sz="2400" dirty="0">
              <a:latin typeface="微软雅黑" panose="020B0503020204020204" pitchFamily="34" charset="-122"/>
            </a:endParaRPr>
          </a:p>
          <a:p>
            <a:r>
              <a:rPr lang="en-US" altLang="zh-CN" sz="2400" dirty="0"/>
              <a:t>WebRTC</a:t>
            </a:r>
            <a:r>
              <a:rPr lang="zh-CN" altLang="en-US" sz="2400" dirty="0"/>
              <a:t>的画面质量调整逻辑较为复杂</a:t>
            </a:r>
            <a:endParaRPr lang="en-US" altLang="zh-CN" sz="2400" dirty="0"/>
          </a:p>
          <a:p>
            <a:pPr lvl="1"/>
            <a:r>
              <a:rPr lang="zh-CN" altLang="en-US" sz="2000" dirty="0"/>
              <a:t>由前文所述的丢包率及码率控制画质调整</a:t>
            </a:r>
            <a:endParaRPr lang="en-US" altLang="zh-CN" sz="2000" dirty="0"/>
          </a:p>
          <a:p>
            <a:pPr lvl="1"/>
            <a:r>
              <a:rPr lang="zh-CN" altLang="en-US" sz="2000" dirty="0"/>
              <a:t>由发送端机器</a:t>
            </a:r>
            <a:r>
              <a:rPr lang="en-US" altLang="zh-CN" sz="2000" dirty="0"/>
              <a:t>CPU</a:t>
            </a:r>
            <a:r>
              <a:rPr lang="zh-CN" altLang="en-US" sz="2000" dirty="0"/>
              <a:t>占用度控制画质调整</a:t>
            </a:r>
            <a:endParaRPr lang="en-US" altLang="zh-CN" sz="2000" dirty="0"/>
          </a:p>
          <a:p>
            <a:pPr lvl="1"/>
            <a:r>
              <a:rPr lang="zh-CN" altLang="en-US" sz="2000" dirty="0"/>
              <a:t>由生成视频质量控制画质调整</a:t>
            </a:r>
            <a:endParaRPr lang="en-US" altLang="zh-CN" sz="2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05873" y="3336813"/>
            <a:ext cx="1892300" cy="353060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5"/>
          <p:cNvGrpSpPr/>
          <p:nvPr/>
        </p:nvGrpSpPr>
        <p:grpSpPr bwMode="auto">
          <a:xfrm>
            <a:off x="136024" y="3451113"/>
            <a:ext cx="8739190" cy="3530600"/>
            <a:chOff x="3076" y="888"/>
            <a:chExt cx="5505" cy="2224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150" y="949"/>
              <a:ext cx="1205" cy="21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application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transport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link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physical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3076" y="1320"/>
              <a:ext cx="5465" cy="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V="1">
              <a:off x="3076" y="1768"/>
              <a:ext cx="550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113" y="3361017"/>
            <a:ext cx="518959" cy="518959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182876" y="4236429"/>
            <a:ext cx="28467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Congestion control ()</a:t>
            </a:r>
            <a:endParaRPr lang="en-US" altLang="zh-CN" dirty="0">
              <a:latin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21044" y="3425714"/>
            <a:ext cx="789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apps</a:t>
            </a:r>
            <a:endParaRPr lang="en-US" altLang="zh-CN" dirty="0">
              <a:latin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46300" y="5025330"/>
            <a:ext cx="27772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delay, loss, jitter, </a:t>
            </a:r>
            <a:r>
              <a:rPr lang="en-US" altLang="zh-CN" dirty="0" err="1">
                <a:latin typeface="+mn-lt"/>
              </a:rPr>
              <a:t>etc</a:t>
            </a:r>
            <a:endParaRPr lang="en-US" altLang="zh-CN" dirty="0">
              <a:latin typeface="+mn-lt"/>
            </a:endParaRPr>
          </a:p>
        </p:txBody>
      </p:sp>
      <p:sp>
        <p:nvSpPr>
          <p:cNvPr id="16" name="箭头: 右 15"/>
          <p:cNvSpPr/>
          <p:nvPr/>
        </p:nvSpPr>
        <p:spPr bwMode="auto">
          <a:xfrm rot="16200000">
            <a:off x="3207741" y="4670786"/>
            <a:ext cx="514922" cy="300681"/>
          </a:xfrm>
          <a:prstGeom prst="rightArrow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/>
          <p:cNvSpPr/>
          <p:nvPr/>
        </p:nvSpPr>
        <p:spPr bwMode="auto">
          <a:xfrm rot="16200000">
            <a:off x="3209801" y="3959586"/>
            <a:ext cx="514922" cy="300681"/>
          </a:xfrm>
          <a:prstGeom prst="rightArrow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457777" y="4229666"/>
            <a:ext cx="36227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Video congestion control ()</a:t>
            </a:r>
            <a:endParaRPr lang="en-US" altLang="zh-CN" dirty="0">
              <a:latin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339658" y="3438414"/>
            <a:ext cx="1443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video app</a:t>
            </a:r>
            <a:endParaRPr lang="en-US" altLang="zh-CN" dirty="0">
              <a:latin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747375" y="5025330"/>
            <a:ext cx="27772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delay, loss, jitter, </a:t>
            </a:r>
            <a:r>
              <a:rPr lang="en-US" altLang="zh-CN" dirty="0" err="1">
                <a:latin typeface="+mn-lt"/>
              </a:rPr>
              <a:t>etc</a:t>
            </a:r>
            <a:endParaRPr lang="en-US" altLang="zh-CN" dirty="0">
              <a:latin typeface="+mn-lt"/>
            </a:endParaRPr>
          </a:p>
        </p:txBody>
      </p:sp>
      <p:sp>
        <p:nvSpPr>
          <p:cNvPr id="21" name="箭头: 右 20"/>
          <p:cNvSpPr/>
          <p:nvPr/>
        </p:nvSpPr>
        <p:spPr bwMode="auto">
          <a:xfrm rot="16200000">
            <a:off x="6808816" y="4670786"/>
            <a:ext cx="514922" cy="300681"/>
          </a:xfrm>
          <a:prstGeom prst="rightArrow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/>
          <p:cNvSpPr/>
          <p:nvPr/>
        </p:nvSpPr>
        <p:spPr bwMode="auto">
          <a:xfrm rot="16200000">
            <a:off x="6810876" y="3959586"/>
            <a:ext cx="514922" cy="300681"/>
          </a:xfrm>
          <a:prstGeom prst="rightArrow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593128" y="3728181"/>
            <a:ext cx="1046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Tx rate</a:t>
            </a:r>
            <a:endParaRPr lang="en-US" altLang="zh-CN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16741" y="3719812"/>
            <a:ext cx="1046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Tx rate</a:t>
            </a:r>
            <a:endParaRPr lang="en-US" altLang="zh-CN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5" name="对话气泡: 椭圆形 24"/>
          <p:cNvSpPr/>
          <p:nvPr/>
        </p:nvSpPr>
        <p:spPr bwMode="auto">
          <a:xfrm>
            <a:off x="6695874" y="2133600"/>
            <a:ext cx="1828800" cy="1211648"/>
          </a:xfrm>
          <a:prstGeom prst="wedgeEllipseCallout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zh-CN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Codec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:</a:t>
            </a:r>
            <a:endParaRPr lang="en-US" altLang="zh-CN" sz="2000" dirty="0">
              <a:solidFill>
                <a:srgbClr val="FF0000"/>
              </a:solidFill>
              <a:latin typeface="+mn-lt"/>
            </a:endParaRPr>
          </a:p>
          <a:p>
            <a:pPr algn="ctr"/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F-rate, res, </a:t>
            </a:r>
            <a:r>
              <a:rPr lang="en-US" altLang="zh-CN" sz="2000" dirty="0" err="1">
                <a:solidFill>
                  <a:srgbClr val="FF0000"/>
                </a:solidFill>
                <a:latin typeface="+mn-lt"/>
              </a:rPr>
              <a:t>freq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基于丢包率、码率的画质调整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4972050"/>
          </a:xfrm>
        </p:spPr>
        <p:txBody>
          <a:bodyPr/>
          <a:lstStyle/>
          <a:p>
            <a:r>
              <a:rPr lang="zh-CN" altLang="en-US" sz="2400" dirty="0"/>
              <a:t>在视频流编码时，若丢包率过高</a:t>
            </a:r>
            <a:r>
              <a:rPr lang="en-US" altLang="zh-CN" sz="2400" dirty="0"/>
              <a:t>/</a:t>
            </a:r>
            <a:r>
              <a:rPr lang="zh-CN" altLang="en-US" sz="2400" dirty="0"/>
              <a:t>码率过高，则丢弃帧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进而触发函数，对应</a:t>
            </a:r>
            <a:r>
              <a:rPr lang="zh-CN" altLang="en-US" sz="2400" dirty="0">
                <a:solidFill>
                  <a:srgbClr val="FF0000"/>
                </a:solidFill>
              </a:rPr>
              <a:t>下调</a:t>
            </a:r>
            <a:r>
              <a:rPr lang="zh-CN" altLang="en-US" sz="2400" dirty="0"/>
              <a:t>画面质量</a:t>
            </a:r>
            <a:r>
              <a:rPr lang="en-US" altLang="zh-CN" sz="2400" dirty="0"/>
              <a:t>(resolution)</a:t>
            </a: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4012" y="3200400"/>
            <a:ext cx="5895975" cy="3144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CPU</a:t>
            </a:r>
            <a:r>
              <a:rPr lang="zh-CN" altLang="en-US" dirty="0"/>
              <a:t>占用度的画质调整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4972050"/>
          </a:xfrm>
        </p:spPr>
        <p:txBody>
          <a:bodyPr/>
          <a:lstStyle/>
          <a:p>
            <a:r>
              <a:rPr lang="en-US" altLang="zh-CN" sz="2400" dirty="0"/>
              <a:t>CPU</a:t>
            </a:r>
            <a:r>
              <a:rPr lang="zh-CN" altLang="en-US" sz="2400" dirty="0"/>
              <a:t>使用度 </a:t>
            </a:r>
            <a:r>
              <a:rPr lang="en-US" altLang="zh-CN" sz="2400" dirty="0"/>
              <a:t>= </a:t>
            </a:r>
            <a:r>
              <a:rPr lang="zh-CN" altLang="en-US" sz="2400" dirty="0"/>
              <a:t>编码耗时 </a:t>
            </a:r>
            <a:r>
              <a:rPr lang="en-US" altLang="zh-CN" sz="2400" dirty="0"/>
              <a:t>/ </a:t>
            </a:r>
            <a:r>
              <a:rPr lang="zh-CN" altLang="en-US" sz="2400" dirty="0"/>
              <a:t>采集耗时，一个比值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比值大，表示编码跟不上采集，需要对编码进行降级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比值小，表示编码能力富余，可以进行编码升级，提供更好的视频质量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 好处：不与</a:t>
            </a:r>
            <a:r>
              <a:rPr lang="en-US" altLang="zh-CN" sz="2400" dirty="0"/>
              <a:t>CPU</a:t>
            </a:r>
            <a:r>
              <a:rPr lang="zh-CN" altLang="en-US" sz="2400" dirty="0"/>
              <a:t>硬件绑定，与硬件平台解耦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兼顾当前软件运行环境的影响，比如其他应用对</a:t>
            </a:r>
            <a:r>
              <a:rPr lang="en-US" altLang="zh-CN" sz="2400" dirty="0"/>
              <a:t>CPU</a:t>
            </a:r>
            <a:r>
              <a:rPr lang="zh-CN" altLang="en-US" sz="2400" dirty="0"/>
              <a:t>的消耗、操作系统对各进程资源的调度策略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CPU</a:t>
            </a:r>
            <a:r>
              <a:rPr lang="zh-CN" altLang="en-US" dirty="0"/>
              <a:t>占用度的画质调整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4972050"/>
          </a:xfrm>
        </p:spPr>
        <p:txBody>
          <a:bodyPr/>
          <a:lstStyle/>
          <a:p>
            <a:r>
              <a:rPr lang="zh-CN" altLang="en-US" sz="2400" dirty="0"/>
              <a:t>每间隔</a:t>
            </a:r>
            <a:r>
              <a:rPr lang="en-US" altLang="zh-CN" sz="2400" dirty="0"/>
              <a:t>5</a:t>
            </a:r>
            <a:r>
              <a:rPr lang="zh-CN" altLang="en-US" sz="2400" dirty="0"/>
              <a:t>秒，对编码速率的检测结果进行阈值化比较</a:t>
            </a: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590800"/>
            <a:ext cx="7039578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基于画面质量的画质调整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4972050"/>
          </a:xfrm>
        </p:spPr>
        <p:txBody>
          <a:bodyPr/>
          <a:lstStyle/>
          <a:p>
            <a:r>
              <a:rPr lang="zh-CN" altLang="en-US" sz="2400" dirty="0"/>
              <a:t>目的：让视频质量维持在可接受范围的前提下，调节整体视频表现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dirty="0"/>
              <a:t>Quantization Parameter (QP) </a:t>
            </a:r>
            <a:r>
              <a:rPr lang="zh-CN" altLang="en-US" sz="2400" dirty="0"/>
              <a:t>值：量化参数，反映空间细节压缩情况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同样采用阈值化检测 </a:t>
            </a:r>
            <a:r>
              <a:rPr lang="en-US" altLang="zh-CN" sz="2400" dirty="0"/>
              <a:t>threshold based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QP</a:t>
            </a:r>
            <a:r>
              <a:rPr lang="zh-CN" altLang="en-US" sz="2400" dirty="0"/>
              <a:t>值越小，说明画面质量过低，需提高画面编码参数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QP</a:t>
            </a:r>
            <a:r>
              <a:rPr lang="zh-CN" altLang="en-US" sz="2400" dirty="0"/>
              <a:t>值越大，说明画面质量过高，需降低画面编码参数</a:t>
            </a:r>
            <a:endParaRPr lang="en-US" altLang="zh-CN" sz="2400" dirty="0"/>
          </a:p>
          <a:p>
            <a:endParaRPr lang="en-US" altLang="zh-CN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基于画面质量的画质调整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4972050"/>
          </a:xfrm>
        </p:spPr>
        <p:txBody>
          <a:bodyPr/>
          <a:lstStyle/>
          <a:p>
            <a:r>
              <a:rPr lang="zh-CN" altLang="en-US" sz="2400" dirty="0"/>
              <a:t>以</a:t>
            </a:r>
            <a:r>
              <a:rPr lang="en-US" altLang="zh-CN" sz="2400" dirty="0"/>
              <a:t>QP</a:t>
            </a:r>
            <a:r>
              <a:rPr lang="zh-CN" altLang="en-US" sz="2400" dirty="0"/>
              <a:t>值过高为例</a:t>
            </a: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2209800"/>
            <a:ext cx="6834188" cy="400748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439744" y="5029200"/>
            <a:ext cx="1332656" cy="293914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8" tIns="91438" rIns="91438" bIns="91438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6112" y="1980920"/>
            <a:ext cx="4153775" cy="36755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16" y="1980920"/>
            <a:ext cx="4075260" cy="367554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71357" y="2737444"/>
            <a:ext cx="2585357" cy="346247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rgbClr val="000000"/>
              </a:solidFill>
              <a:latin typeface="+mn-lt"/>
              <a:sym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7571" y="2246226"/>
            <a:ext cx="3526971" cy="346247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rgbClr val="000000"/>
              </a:solidFill>
              <a:latin typeface="+mn-lt"/>
              <a:sym typeface="Times New Roman" panose="020206030504050203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4593" y="4212599"/>
            <a:ext cx="3526971" cy="346247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rgbClr val="000000"/>
              </a:solidFill>
              <a:latin typeface="+mn-lt"/>
              <a:sym typeface="Times New Roman" panose="02020603050405020304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74090" y="457200"/>
            <a:ext cx="7591425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j-cs"/>
              </a:defRPr>
            </a:lvl1pPr>
            <a:lvl2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2pPr>
            <a:lvl3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3pPr>
            <a:lvl4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4pPr>
            <a:lvl5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5pPr>
            <a:lvl6pPr marL="5765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6pPr>
            <a:lvl7pPr marL="10337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7pPr>
            <a:lvl8pPr marL="14909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8pPr>
            <a:lvl9pPr marL="19481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9pPr>
          </a:lstStyle>
          <a:p>
            <a:r>
              <a:rPr lang="zh-CN" altLang="en-US" kern="0" dirty="0"/>
              <a:t>动态编码参数调整过程</a:t>
            </a:r>
            <a:endParaRPr lang="en-US" kern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248" y="5363272"/>
            <a:ext cx="5803503" cy="1009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248" y="2332194"/>
            <a:ext cx="5803502" cy="2637141"/>
          </a:xfrm>
          <a:prstGeom prst="rect">
            <a:avLst/>
          </a:prstGeom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74090" y="457200"/>
            <a:ext cx="7591425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baseline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j-cs"/>
              </a:defRPr>
            </a:lvl1pPr>
            <a:lvl2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2pPr>
            <a:lvl3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3pPr>
            <a:lvl4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4pPr>
            <a:lvl5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5pPr>
            <a:lvl6pPr marL="5765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6pPr>
            <a:lvl7pPr marL="10337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7pPr>
            <a:lvl8pPr marL="14909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8pPr>
            <a:lvl9pPr marL="19481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506020202030204" pitchFamily="34" charset="0"/>
              </a:defRPr>
            </a:lvl9pPr>
          </a:lstStyle>
          <a:p>
            <a:r>
              <a:rPr lang="zh-CN" altLang="en-US" kern="0" dirty="0"/>
              <a:t>动态编码参数调整过程</a:t>
            </a:r>
            <a:endParaRPr lang="en-US" altLang="zh-CN" kern="0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38175" y="1657350"/>
            <a:ext cx="7743825" cy="1009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1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 sz="20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kern="0" dirty="0"/>
              <a:t>默认的调整仅仅只是简单的乘除调整</a:t>
            </a:r>
            <a:endParaRPr lang="en-US" altLang="zh-CN" kern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1</a:t>
            </a:r>
            <a:r>
              <a:rPr lang="zh-CN" altLang="en-US" dirty="0"/>
              <a:t>：</a:t>
            </a:r>
            <a:r>
              <a:rPr lang="en-US" altLang="zh-CN" dirty="0" err="1"/>
              <a:t>AlphaRTC</a:t>
            </a:r>
            <a:r>
              <a:rPr lang="zh-CN" altLang="en-US" dirty="0"/>
              <a:t>视频质量评估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4972050"/>
          </a:xfrm>
        </p:spPr>
        <p:txBody>
          <a:bodyPr/>
          <a:lstStyle/>
          <a:p>
            <a:r>
              <a:rPr lang="zh-CN" altLang="en-US" sz="2400" dirty="0"/>
              <a:t>实验目的：通过在</a:t>
            </a:r>
            <a:r>
              <a:rPr lang="en-US" altLang="zh-CN" sz="2400" dirty="0"/>
              <a:t>Linux</a:t>
            </a:r>
            <a:r>
              <a:rPr lang="zh-CN" altLang="en-US" sz="2400" dirty="0"/>
              <a:t>机器上部署</a:t>
            </a:r>
            <a:r>
              <a:rPr lang="en-US" altLang="zh-CN" sz="2400" dirty="0"/>
              <a:t>WebRTC</a:t>
            </a:r>
            <a:r>
              <a:rPr lang="zh-CN" altLang="en-US" sz="2400" dirty="0"/>
              <a:t>的分支</a:t>
            </a:r>
            <a:r>
              <a:rPr lang="en-US" altLang="zh-CN" sz="2400" dirty="0" err="1"/>
              <a:t>AlphaRTC</a:t>
            </a:r>
            <a:r>
              <a:rPr lang="zh-CN" altLang="en-US" sz="2400" dirty="0"/>
              <a:t>，并实现视频的传输与各类指标评测以分析其性能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设备要求：</a:t>
            </a:r>
            <a:r>
              <a:rPr lang="en-US" altLang="zh-CN" sz="2400" dirty="0"/>
              <a:t>Ubuntu18.04/20.04</a:t>
            </a:r>
            <a:r>
              <a:rPr lang="zh-CN" altLang="en-US" sz="2400" dirty="0"/>
              <a:t>，并具有至少</a:t>
            </a:r>
            <a:r>
              <a:rPr lang="en-US" altLang="zh-CN" sz="2400" dirty="0"/>
              <a:t>10G</a:t>
            </a:r>
            <a:r>
              <a:rPr lang="zh-CN" altLang="en-US" sz="2400" dirty="0"/>
              <a:t>存储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 err="1"/>
              <a:t>AlphaRTC</a:t>
            </a:r>
            <a:r>
              <a:rPr lang="zh-CN" altLang="en-US" sz="2400" dirty="0"/>
              <a:t>网址：</a:t>
            </a:r>
            <a:r>
              <a:rPr lang="en-US" altLang="zh-CN" sz="2400" dirty="0">
                <a:hlinkClick r:id="rId1"/>
              </a:rPr>
              <a:t>https://github.com/OpenNetLab/AlphaRTC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视频质量评估指标</a:t>
            </a:r>
            <a:r>
              <a:rPr lang="en-US" altLang="zh-CN" sz="2400" dirty="0" err="1"/>
              <a:t>vmaf</a:t>
            </a:r>
            <a:r>
              <a:rPr lang="zh-CN" altLang="en-US" sz="2400" dirty="0"/>
              <a:t>网址：</a:t>
            </a:r>
            <a:r>
              <a:rPr lang="en-US" altLang="zh-CN" sz="2400" dirty="0">
                <a:hlinkClick r:id="rId2"/>
              </a:rPr>
              <a:t>https://github.com/Netflix/vmaf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1</a:t>
            </a:r>
            <a:r>
              <a:rPr lang="zh-CN" altLang="en-US" dirty="0"/>
              <a:t>：实验准备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4972050"/>
          </a:xfrm>
        </p:spPr>
        <p:txBody>
          <a:bodyPr/>
          <a:lstStyle/>
          <a:p>
            <a:r>
              <a:rPr lang="zh-CN" altLang="en-US" sz="2400" dirty="0"/>
              <a:t>从网站下载</a:t>
            </a:r>
            <a:r>
              <a:rPr lang="en-US" altLang="zh-CN" sz="2400" dirty="0" err="1"/>
              <a:t>AlphaRTC</a:t>
            </a:r>
            <a:r>
              <a:rPr lang="zh-CN" altLang="en-US" sz="2400" dirty="0"/>
              <a:t>仓库及</a:t>
            </a:r>
            <a:r>
              <a:rPr lang="en-US" altLang="zh-CN" sz="2400" dirty="0" err="1"/>
              <a:t>vmaf</a:t>
            </a:r>
            <a:r>
              <a:rPr lang="zh-CN" altLang="en-US" sz="2400" dirty="0"/>
              <a:t>仓库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视频传输的操作目录位于</a:t>
            </a:r>
            <a:r>
              <a:rPr lang="en-US" altLang="zh-CN" sz="2400" dirty="0"/>
              <a:t>/examples/</a:t>
            </a:r>
            <a:r>
              <a:rPr lang="en-US" altLang="zh-CN" sz="2400" dirty="0" err="1"/>
              <a:t>peerconnection</a:t>
            </a:r>
            <a:r>
              <a:rPr lang="en-US" altLang="zh-CN" sz="2400" dirty="0"/>
              <a:t>/serverless/corpus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为了简化操作，不编译代码生成镜像使用官方提供的镜像代替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按教程下载镜像，并装载进容器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1</a:t>
            </a:r>
            <a:r>
              <a:rPr lang="zh-CN" altLang="en-US" dirty="0"/>
              <a:t>：视频传输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4972050"/>
          </a:xfrm>
        </p:spPr>
        <p:txBody>
          <a:bodyPr/>
          <a:lstStyle/>
          <a:p>
            <a:r>
              <a:rPr lang="zh-CN" altLang="en-US" sz="2400" dirty="0"/>
              <a:t>为</a:t>
            </a:r>
            <a:r>
              <a:rPr lang="zh-CN" altLang="en-US" sz="2400" dirty="0">
                <a:solidFill>
                  <a:srgbClr val="FF0000"/>
                </a:solidFill>
              </a:rPr>
              <a:t>简化操作</a:t>
            </a:r>
            <a:r>
              <a:rPr lang="zh-CN" altLang="en-US" sz="2400" dirty="0"/>
              <a:t>，发送端与接收端均为本机，</a:t>
            </a:r>
            <a:r>
              <a:rPr lang="en-US" altLang="zh-CN" sz="2400" dirty="0"/>
              <a:t>IP</a:t>
            </a:r>
            <a:r>
              <a:rPr lang="zh-CN" altLang="en-US" sz="2400" dirty="0"/>
              <a:t>为</a:t>
            </a:r>
            <a:r>
              <a:rPr lang="en-US" altLang="zh-CN" sz="2400" dirty="0"/>
              <a:t>0.0.0.0</a:t>
            </a:r>
            <a:endParaRPr lang="en-US" altLang="zh-CN" sz="2400" dirty="0"/>
          </a:p>
          <a:p>
            <a:pPr lvl="1"/>
            <a:r>
              <a:rPr lang="zh-CN" altLang="en-US" sz="2000" dirty="0"/>
              <a:t>如学有余力，可以尝试两台不同</a:t>
            </a:r>
            <a:r>
              <a:rPr lang="en-US" altLang="zh-CN" sz="2000" dirty="0"/>
              <a:t>IP</a:t>
            </a:r>
            <a:r>
              <a:rPr lang="zh-CN" altLang="en-US" sz="2000" dirty="0"/>
              <a:t>机器传输。</a:t>
            </a:r>
            <a:endParaRPr lang="en-US" altLang="zh-CN" sz="2000" dirty="0"/>
          </a:p>
          <a:p>
            <a:endParaRPr lang="en-US" altLang="zh-CN" sz="2400" dirty="0"/>
          </a:p>
          <a:p>
            <a:r>
              <a:rPr lang="zh-CN" altLang="en-US" sz="2400" dirty="0"/>
              <a:t>修改得到目标传输视频（使用</a:t>
            </a:r>
            <a:r>
              <a:rPr lang="en-US" altLang="zh-CN" sz="2400" dirty="0" err="1"/>
              <a:t>ffmpeg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按教程分别修发送与接收的</a:t>
            </a:r>
            <a:r>
              <a:rPr lang="en-US" altLang="zh-CN" sz="2400" dirty="0"/>
              <a:t>json</a:t>
            </a:r>
            <a:r>
              <a:rPr lang="zh-CN" altLang="en-US" sz="2400" dirty="0"/>
              <a:t>配置文件，记录</a:t>
            </a:r>
            <a:r>
              <a:rPr lang="en-US" altLang="zh-CN" sz="2400" dirty="0"/>
              <a:t>log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分别开启发送与接收的终端，进入容器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使用指令传输视频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1</a:t>
            </a:r>
            <a:r>
              <a:rPr lang="zh-CN" altLang="en-US" dirty="0"/>
              <a:t>：视频传输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90" y="3295650"/>
            <a:ext cx="8248650" cy="3009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90" y="1295400"/>
            <a:ext cx="8258175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1</a:t>
            </a:r>
            <a:r>
              <a:rPr lang="zh-CN" altLang="en-US" dirty="0"/>
              <a:t>：指标计算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657350"/>
            <a:ext cx="7743825" cy="4972050"/>
          </a:xfrm>
        </p:spPr>
        <p:txBody>
          <a:bodyPr/>
          <a:lstStyle/>
          <a:p>
            <a:r>
              <a:rPr lang="zh-CN" altLang="en-US" sz="2400" dirty="0"/>
              <a:t>传输完成后，计算传输后视频的各个指标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编译</a:t>
            </a:r>
            <a:r>
              <a:rPr lang="en-US" altLang="zh-CN" sz="2400" dirty="0" err="1"/>
              <a:t>vmaf</a:t>
            </a:r>
            <a:r>
              <a:rPr lang="zh-CN" altLang="en-US" sz="2400" dirty="0"/>
              <a:t>得到执行文件，并计算</a:t>
            </a:r>
            <a:r>
              <a:rPr lang="en-US" altLang="zh-CN" sz="2400" dirty="0" err="1"/>
              <a:t>vmaf</a:t>
            </a:r>
            <a:r>
              <a:rPr lang="zh-CN" altLang="en-US" sz="2400" dirty="0"/>
              <a:t>值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使用预设的函数与</a:t>
            </a:r>
            <a:r>
              <a:rPr lang="en-US" altLang="zh-CN" sz="2400" dirty="0"/>
              <a:t>log</a:t>
            </a:r>
            <a:r>
              <a:rPr lang="zh-CN" altLang="en-US" sz="2400" dirty="0"/>
              <a:t>文件计算丢包率与吞吐量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根据指标结果绘制相应图像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进阶</a:t>
            </a:r>
            <a:r>
              <a:rPr lang="zh-CN" altLang="en-US" sz="2400" dirty="0"/>
              <a:t>：研究位于两台机器之间的传输，并自行设计完成网络限速，模拟真实网络环境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85750" y="1736998"/>
            <a:ext cx="8248650" cy="4648200"/>
          </a:xfrm>
        </p:spPr>
        <p:txBody>
          <a:bodyPr/>
          <a:lstStyle/>
          <a:p>
            <a:r>
              <a:rPr lang="zh-CN" altLang="en-US" sz="2400" dirty="0"/>
              <a:t>检查日期：</a:t>
            </a:r>
            <a:endParaRPr lang="en-US" altLang="zh-CN" sz="2400" dirty="0"/>
          </a:p>
          <a:p>
            <a:pPr lvl="1"/>
            <a:r>
              <a:rPr lang="en-US" altLang="zh-CN" sz="2000" dirty="0"/>
              <a:t>2025</a:t>
            </a:r>
            <a:r>
              <a:rPr lang="zh-CN" altLang="en-US" sz="2000" dirty="0"/>
              <a:t>年</a:t>
            </a:r>
            <a:r>
              <a:rPr lang="en-US" altLang="zh-CN" sz="2000" dirty="0"/>
              <a:t>5</a:t>
            </a:r>
            <a:r>
              <a:rPr lang="zh-CN" altLang="en-US" sz="2000" dirty="0"/>
              <a:t>月</a:t>
            </a:r>
            <a:r>
              <a:rPr lang="en-US" altLang="zh-CN" sz="2000" dirty="0"/>
              <a:t>8</a:t>
            </a:r>
            <a:r>
              <a:rPr lang="zh-CN" altLang="en-US" sz="2000" dirty="0"/>
              <a:t>日，每个小组做</a:t>
            </a:r>
            <a:r>
              <a:rPr lang="en-US" altLang="zh-CN" sz="2000" dirty="0"/>
              <a:t>5</a:t>
            </a:r>
            <a:r>
              <a:rPr lang="zh-CN" altLang="en-US" sz="2000" dirty="0"/>
              <a:t>页</a:t>
            </a:r>
            <a:r>
              <a:rPr lang="en-US" altLang="zh-CN" sz="2000" dirty="0"/>
              <a:t>ppt</a:t>
            </a:r>
            <a:r>
              <a:rPr lang="zh-CN" altLang="en-US" sz="2000" dirty="0"/>
              <a:t>课堂汇报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endParaRPr lang="en-US" altLang="zh-CN" sz="2400" dirty="0"/>
          </a:p>
          <a:p>
            <a:r>
              <a:rPr lang="zh-CN" altLang="en-US" sz="2400" dirty="0"/>
              <a:t>提交日期与要求</a:t>
            </a:r>
            <a:endParaRPr lang="en-US" altLang="zh-CN" sz="2400" dirty="0"/>
          </a:p>
          <a:p>
            <a:pPr lvl="1"/>
            <a:r>
              <a:rPr lang="en-US" altLang="zh-CN" sz="2000" dirty="0"/>
              <a:t>2025</a:t>
            </a:r>
            <a:r>
              <a:rPr lang="zh-CN" altLang="en-US" sz="2000" dirty="0"/>
              <a:t>年</a:t>
            </a:r>
            <a:r>
              <a:rPr lang="en-US" altLang="zh-CN" sz="2000" dirty="0"/>
              <a:t>5</a:t>
            </a:r>
            <a:r>
              <a:rPr lang="zh-CN" altLang="en-US" sz="2000" dirty="0"/>
              <a:t>月</a:t>
            </a:r>
            <a:r>
              <a:rPr lang="en-US" altLang="zh-CN" sz="2000" dirty="0"/>
              <a:t>7</a:t>
            </a:r>
            <a:r>
              <a:rPr lang="zh-CN" altLang="en-US" sz="2000" dirty="0"/>
              <a:t>日</a:t>
            </a:r>
            <a:r>
              <a:rPr lang="en-US" altLang="zh-CN" sz="2000" dirty="0"/>
              <a:t>23:59PM</a:t>
            </a:r>
            <a:r>
              <a:rPr lang="zh-CN" altLang="en-US" sz="2000" dirty="0"/>
              <a:t>，每个小组提交以下内容</a:t>
            </a:r>
            <a:endParaRPr lang="en-US" altLang="zh-CN" sz="2000" dirty="0"/>
          </a:p>
          <a:p>
            <a:pPr lvl="2"/>
            <a:r>
              <a:rPr lang="zh-CN" altLang="en-US" sz="1600" dirty="0"/>
              <a:t>报告</a:t>
            </a:r>
            <a:endParaRPr lang="en-US" altLang="zh-CN" sz="1600" dirty="0"/>
          </a:p>
          <a:p>
            <a:pPr lvl="3"/>
            <a:r>
              <a:rPr lang="en-US" altLang="zh-CN" sz="1400" dirty="0"/>
              <a:t>Lab</a:t>
            </a:r>
            <a:r>
              <a:rPr lang="zh-CN" altLang="en-US" sz="1400" dirty="0"/>
              <a:t>操作过程、步骤描述</a:t>
            </a:r>
            <a:endParaRPr lang="en-US" altLang="zh-CN" sz="1400" dirty="0"/>
          </a:p>
          <a:p>
            <a:pPr lvl="3"/>
            <a:r>
              <a:rPr lang="zh-CN" altLang="en-US" sz="1400" dirty="0"/>
              <a:t>传输结果：用图或者表格，展示出你的视频传输相关指标结果</a:t>
            </a:r>
            <a:endParaRPr lang="en-US" altLang="zh-CN" sz="1400" dirty="0"/>
          </a:p>
        </p:txBody>
      </p:sp>
      <p:sp>
        <p:nvSpPr>
          <p:cNvPr id="92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9075" y="381000"/>
            <a:ext cx="8077200" cy="1143000"/>
          </a:xfrm>
        </p:spPr>
        <p:txBody>
          <a:bodyPr/>
          <a:lstStyle/>
          <a:p>
            <a:r>
              <a:rPr lang="en-US" altLang="zh-CN" dirty="0"/>
              <a:t>Lab 1</a:t>
            </a:r>
            <a:r>
              <a:rPr lang="zh-CN" altLang="en-US" dirty="0"/>
              <a:t>：</a:t>
            </a:r>
            <a:r>
              <a:rPr lang="zh-CN" altLang="en-US" dirty="0">
                <a:latin typeface="微软雅黑" panose="020B0503020204020204" pitchFamily="34" charset="-122"/>
              </a:rPr>
              <a:t>检查与提交要求</a:t>
            </a:r>
            <a:endParaRPr lang="en-US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>
          <a:solidFill>
            <a:srgbClr val="C00000"/>
          </a:solidFill>
          <a:miter lim="800000"/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12700">
          <a:solidFill>
            <a:srgbClr val="000000"/>
          </a:solidFill>
          <a:miter lim="800000"/>
          <a:headEnd type="none" w="med" len="med"/>
          <a:tailEnd type="triangl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3642</Words>
  <Application>WPS 文字</Application>
  <PresentationFormat>全屏显示(4:3)</PresentationFormat>
  <Paragraphs>266</Paragraphs>
  <Slides>26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Arial Narrow</vt:lpstr>
      <vt:lpstr>Calibri</vt:lpstr>
      <vt:lpstr>微软雅黑</vt:lpstr>
      <vt:lpstr>MS PGothic</vt:lpstr>
      <vt:lpstr>Wingdings 2</vt:lpstr>
      <vt:lpstr>Times New Roman</vt:lpstr>
      <vt:lpstr>Times New Roman</vt:lpstr>
      <vt:lpstr>Arial Unicode MS</vt:lpstr>
      <vt:lpstr>template2007</vt:lpstr>
      <vt:lpstr>PowerPoint 演示文稿</vt:lpstr>
      <vt:lpstr>大纲</vt:lpstr>
      <vt:lpstr>PowerPoint 演示文稿</vt:lpstr>
      <vt:lpstr>PowerPoint 演示文稿</vt:lpstr>
      <vt:lpstr>Real-Time Protocol (RTP)</vt:lpstr>
      <vt:lpstr>Real-Time Control Protocol (RTCP)</vt:lpstr>
      <vt:lpstr>RTCP - Continued</vt:lpstr>
      <vt:lpstr>WebRTC中的RTP/RTCP</vt:lpstr>
      <vt:lpstr>WebRTC拥塞控制算法</vt:lpstr>
      <vt:lpstr>Loss based controller 基于丢包率的码率控制</vt:lpstr>
      <vt:lpstr>Delay based controller 基于延迟的码率控制 (1/2)</vt:lpstr>
      <vt:lpstr>Delay based controller 基于延迟的码率控制 (2/2)</vt:lpstr>
      <vt:lpstr>WebRTC画质调整逻辑</vt:lpstr>
      <vt:lpstr>基于丢包率、码率的画质调整</vt:lpstr>
      <vt:lpstr>基于CPU占用度的画质调整</vt:lpstr>
      <vt:lpstr>基于CPU占用度的画质调整</vt:lpstr>
      <vt:lpstr>基于画面质量的画质调整</vt:lpstr>
      <vt:lpstr>基于画面质量的画质调整</vt:lpstr>
      <vt:lpstr>PowerPoint 演示文稿</vt:lpstr>
      <vt:lpstr>PowerPoint 演示文稿</vt:lpstr>
      <vt:lpstr>Lab 1：AlphaRTC视频质量评估</vt:lpstr>
      <vt:lpstr>Lab 1：实验准备</vt:lpstr>
      <vt:lpstr>Lab 1：视频传输</vt:lpstr>
      <vt:lpstr>Lab 1：视频传输</vt:lpstr>
      <vt:lpstr>Lab 1：指标计算</vt:lpstr>
      <vt:lpstr>Lab 1：检查与提交要求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宇宙第一帅</cp:lastModifiedBy>
  <cp:revision>1374</cp:revision>
  <cp:lastPrinted>2025-04-14T02:07:43Z</cp:lastPrinted>
  <dcterms:created xsi:type="dcterms:W3CDTF">2025-04-14T02:07:43Z</dcterms:created>
  <dcterms:modified xsi:type="dcterms:W3CDTF">2025-04-14T02:07:43Z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85617ECAA41C42AF9C3329658CD32688_12</vt:lpwstr>
  </property>
  <property fmtid="{D5CDD505-2E9C-101B-9397-08002B2CF9AE}" pid="3" name="KSOProductBuildVer">
    <vt:lpwstr>2052-3.9.4.6396</vt:lpwstr>
  </property>
</Properties>
</file>